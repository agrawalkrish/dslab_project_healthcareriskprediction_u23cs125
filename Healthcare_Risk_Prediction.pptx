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5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ED1-413E-B0CA-0986962A576A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ED1-413E-B0CA-0986962A576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Healthy (0)</c:v>
                </c:pt>
                <c:pt idx="1">
                  <c:v>Disease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164</c:v>
                </c:pt>
                <c:pt idx="1">
                  <c:v>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ED1-413E-B0CA-0986962A57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cp</c:v>
                </c:pt>
                <c:pt idx="1">
                  <c:v>thalach</c:v>
                </c:pt>
                <c:pt idx="2">
                  <c:v>exang</c:v>
                </c:pt>
                <c:pt idx="3">
                  <c:v>oldpeak</c:v>
                </c:pt>
                <c:pt idx="4">
                  <c:v>ca</c:v>
                </c:pt>
                <c:pt idx="5">
                  <c:v>slope</c:v>
                </c:pt>
                <c:pt idx="6">
                  <c:v>thal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0.43</c:v>
                </c:pt>
                <c:pt idx="1">
                  <c:v>-0.42</c:v>
                </c:pt>
                <c:pt idx="2">
                  <c:v>0.44</c:v>
                </c:pt>
                <c:pt idx="3">
                  <c:v>0.43</c:v>
                </c:pt>
                <c:pt idx="4">
                  <c:v>0.47</c:v>
                </c:pt>
                <c:pt idx="5">
                  <c:v>-0.34</c:v>
                </c:pt>
                <c:pt idx="6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98-46DD-871E-07FAE954BA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 (AUC=0.94)</c:v>
                </c:pt>
              </c:strCache>
            </c:strRef>
          </c:tx>
          <c:spPr>
            <a:ln w="25400" cap="flat">
              <a:solidFill>
                <a:srgbClr val="3498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498DB"/>
              </a:solidFill>
              <a:ln w="9525" cap="flat">
                <a:solidFill>
                  <a:srgbClr val="3498D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1">
                  <c:v>0.45</c:v>
                </c:pt>
                <c:pt idx="2">
                  <c:v>0.62</c:v>
                </c:pt>
                <c:pt idx="3">
                  <c:v>0.73</c:v>
                </c:pt>
                <c:pt idx="4">
                  <c:v>0.8</c:v>
                </c:pt>
                <c:pt idx="5">
                  <c:v>0.85</c:v>
                </c:pt>
                <c:pt idx="6">
                  <c:v>0.89</c:v>
                </c:pt>
                <c:pt idx="7">
                  <c:v>0.92</c:v>
                </c:pt>
                <c:pt idx="8">
                  <c:v>0.95</c:v>
                </c:pt>
                <c:pt idx="9">
                  <c:v>0.98</c:v>
                </c:pt>
                <c:pt idx="10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E59-4CDB-995F-8222863E09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Logistic Reg (AUC=0.95)</c:v>
                </c:pt>
              </c:strCache>
            </c:strRef>
          </c:tx>
          <c:spPr>
            <a:ln w="25400" cap="flat">
              <a:solidFill>
                <a:srgbClr val="E67E2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1">
                  <c:v>0.5</c:v>
                </c:pt>
                <c:pt idx="2">
                  <c:v>0.68</c:v>
                </c:pt>
                <c:pt idx="3">
                  <c:v>0.78</c:v>
                </c:pt>
                <c:pt idx="4">
                  <c:v>0.84</c:v>
                </c:pt>
                <c:pt idx="5">
                  <c:v>0.88</c:v>
                </c:pt>
                <c:pt idx="6">
                  <c:v>0.91</c:v>
                </c:pt>
                <c:pt idx="7">
                  <c:v>0.94</c:v>
                </c:pt>
                <c:pt idx="8">
                  <c:v>0.96</c:v>
                </c:pt>
                <c:pt idx="9">
                  <c:v>0.99</c:v>
                </c:pt>
                <c:pt idx="10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E59-4CDB-995F-8222863E098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 Guess</c:v>
                </c:pt>
              </c:strCache>
            </c:strRef>
          </c:tx>
          <c:spPr>
            <a:ln w="25400" cap="flat">
              <a:solidFill>
                <a:srgbClr val="AAAA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9E59-4CDB-995F-8222863E09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A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328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822960"/>
            <a:ext cx="3840480" cy="384048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3108960"/>
            <a:ext cx="2194560" cy="219456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502920"/>
            <a:ext cx="2560320" cy="292608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521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Prediction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11480" y="23591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Heart Disease Using Machine Learning Pipelines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2834640"/>
            <a:ext cx="5486400" cy="36576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9443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2918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Kushal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Niboriya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324840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U23CS125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7124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5250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 Verma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35112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U23CS117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413308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3813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Dudwe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3789653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U23CS119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Heart Disease Dataset  •  Scikit-learn Pipelines  •  GridSearchCV  •  AUC ~0.93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2815247-AC16-E33E-1D60-C6E45B6B5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38" y="3236976"/>
            <a:ext cx="422966" cy="1472184"/>
          </a:xfrm>
          <a:prstGeom prst="rect">
            <a:avLst/>
          </a:prstGeom>
        </p:spPr>
      </p:pic>
      <p:sp>
        <p:nvSpPr>
          <p:cNvPr id="25" name="Text 17">
            <a:extLst>
              <a:ext uri="{FF2B5EF4-FFF2-40B4-BE49-F238E27FC236}">
                <a16:creationId xmlns:a16="http://schemas.microsoft.com/office/drawing/2014/main" id="{F60E0331-D326-899E-F496-66681F5F012F}"/>
              </a:ext>
            </a:extLst>
          </p:cNvPr>
          <p:cNvSpPr/>
          <p:nvPr/>
        </p:nvSpPr>
        <p:spPr>
          <a:xfrm>
            <a:off x="619450" y="407527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Modi</a:t>
            </a:r>
            <a:endParaRPr lang="en-US" sz="1300" dirty="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3EF4FC4D-9DF7-693D-9BF3-05EDF17E5CC1}"/>
              </a:ext>
            </a:extLst>
          </p:cNvPr>
          <p:cNvSpPr/>
          <p:nvPr/>
        </p:nvSpPr>
        <p:spPr>
          <a:xfrm>
            <a:off x="603504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Agrawal</a:t>
            </a:r>
            <a:endParaRPr lang="en-US" sz="1300" dirty="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9B9E4BDC-FC7B-FBFF-D19C-8AFC76173A59}"/>
              </a:ext>
            </a:extLst>
          </p:cNvPr>
          <p:cNvSpPr/>
          <p:nvPr/>
        </p:nvSpPr>
        <p:spPr>
          <a:xfrm>
            <a:off x="3200400" y="4050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U22CS027</a:t>
            </a:r>
            <a:endParaRPr lang="en-US" sz="1200" dirty="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C488B89B-0849-25EC-654E-D1ECFEE5A677}"/>
              </a:ext>
            </a:extLst>
          </p:cNvPr>
          <p:cNvSpPr/>
          <p:nvPr/>
        </p:nvSpPr>
        <p:spPr>
          <a:xfrm>
            <a:off x="3218688" y="4293643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U23CS097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Motivation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0292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50292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143000"/>
            <a:ext cx="5029200" cy="411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Problem Statement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is the leading cause of death globally, accounting for ~17.9 million deaths per year (WHO).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322576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diagnosis relies on invasive tests and specialist consultations — costly and time-consuming.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80944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patients are diagnosed only at an advanced stage, reducing chances of effective treatment.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3931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critical need for an automated, non-invasive early-warning system using available patient data.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1143000"/>
            <a:ext cx="32461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1143000"/>
            <a:ext cx="32461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5577840" y="1143000"/>
            <a:ext cx="32461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It Matters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0" y="1664208"/>
            <a:ext cx="3063240" cy="5486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168249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17.9M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49440" y="1737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Deaths/year globally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2322576"/>
            <a:ext cx="3063240" cy="5486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34086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49440" y="23957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 with early detection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2980944"/>
            <a:ext cx="3063240" cy="5486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29992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~$320B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949440" y="30540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US economic burden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0" y="3639312"/>
            <a:ext cx="3063240" cy="5486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0" y="36576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949440" y="371246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features → ML model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85039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85039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61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 UCI Machine Learning Repository — Heart Disease Dataset (Cleveland)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084832"/>
            <a:ext cx="1965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84832"/>
            <a:ext cx="196596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084832"/>
            <a:ext cx="196596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12140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0040" y="26791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96312" y="2084832"/>
            <a:ext cx="1965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96312" y="2084832"/>
            <a:ext cx="196596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6" name="Shape 14"/>
          <p:cNvSpPr/>
          <p:nvPr/>
        </p:nvSpPr>
        <p:spPr>
          <a:xfrm>
            <a:off x="2496312" y="2084832"/>
            <a:ext cx="196596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7" name="Text 15"/>
          <p:cNvSpPr/>
          <p:nvPr/>
        </p:nvSpPr>
        <p:spPr>
          <a:xfrm>
            <a:off x="2496312" y="212140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2496312" y="26791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72584" y="2084832"/>
            <a:ext cx="1965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72584" y="2084832"/>
            <a:ext cx="196596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1" name="Shape 19"/>
          <p:cNvSpPr/>
          <p:nvPr/>
        </p:nvSpPr>
        <p:spPr>
          <a:xfrm>
            <a:off x="4672584" y="2084832"/>
            <a:ext cx="196596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2" name="Text 20"/>
          <p:cNvSpPr/>
          <p:nvPr/>
        </p:nvSpPr>
        <p:spPr>
          <a:xfrm>
            <a:off x="4672584" y="212140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4672584" y="26791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48856" y="2084832"/>
            <a:ext cx="1965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48856" y="2084832"/>
            <a:ext cx="196596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6" name="Shape 24"/>
          <p:cNvSpPr/>
          <p:nvPr/>
        </p:nvSpPr>
        <p:spPr>
          <a:xfrm>
            <a:off x="6848856" y="2084832"/>
            <a:ext cx="196596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7" name="Text 25"/>
          <p:cNvSpPr/>
          <p:nvPr/>
        </p:nvSpPr>
        <p:spPr>
          <a:xfrm>
            <a:off x="6848856" y="212140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6848856" y="26791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(0/1)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" y="32004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Overview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566160"/>
          <a:ext cx="8503920" cy="157886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trestbps, chol, thalach, oldpeak, 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(6)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resting BP, cholesterol, max HR, ST depression, vessels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sex, cp, fbs, restecg, exang, slope, thal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(7)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Sex, chest pain type, fasting blood sugar, ECG, exercise angina, slope, thalassemia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 →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(Binary)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No Heart Disease,  1 = Heart Disease Present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605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143000"/>
            <a:ext cx="416052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Cleaning &amp; Missing Values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581912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missing values in ca, thal columns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1892808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Median Imputation for numerical features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2203704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Mode (Most Frequent) Imputation for categorical features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2514600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records found in the dataset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43000"/>
            <a:ext cx="41605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1143000"/>
            <a:ext cx="416052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Encoding &amp; Scaling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73168" y="1581912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OneHotEncoding applied to 7 categorical columns (sex, cp, fbs, restecg, exang, slope, thal)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73168" y="1892808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6 numerical columns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73168" y="2203704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handle_unknown="ignore" to avoid unseen-category errors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17520"/>
            <a:ext cx="416052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3017520"/>
            <a:ext cx="4160520" cy="3657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Train-Test Split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3456432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 /  20% Testing (stratified)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4048" y="3767328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 for reproducibility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4048" y="4078224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set: ~242 records  |  Test set: ~61 records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4048" y="4389120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to preserve class ratio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01752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017520"/>
            <a:ext cx="416052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Shape 29"/>
          <p:cNvSpPr/>
          <p:nvPr/>
        </p:nvSpPr>
        <p:spPr>
          <a:xfrm>
            <a:off x="4663440" y="3017520"/>
            <a:ext cx="4160520" cy="365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Pipeline Architecture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73168" y="3456432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Pipeline: SimpleImputer → StandardScaler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73168" y="3767328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Pipeline: SimpleImputer → OneHotEncoder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73168" y="4078224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via ColumnTransformer → fed into model estimator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402336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88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Distribution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1554480"/>
          <a:ext cx="3886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4572000" y="1097280"/>
            <a:ext cx="42519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097280"/>
            <a:ext cx="42519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4709160" y="118872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with Target</a:t>
            </a:r>
            <a:endParaRPr lang="en-US" sz="1300" dirty="0"/>
          </a:p>
        </p:txBody>
      </p:sp>
      <p:graphicFrame>
        <p:nvGraphicFramePr>
          <p:cNvPr id="13" name="Chart 1"/>
          <p:cNvGraphicFramePr/>
          <p:nvPr/>
        </p:nvGraphicFramePr>
        <p:xfrm>
          <a:off x="4617720" y="1554480"/>
          <a:ext cx="4160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5" name="Text 11"/>
          <p:cNvSpPr/>
          <p:nvPr/>
        </p:nvSpPr>
        <p:spPr>
          <a:xfrm>
            <a:off x="365760" y="4846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Dataset is near-balanced (164 healthy vs 139 disease). Chest pain type (cp), thal, and exang show highest correlation with target variable.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298448" cy="960120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52728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09344" y="1463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93392" y="1143000"/>
            <a:ext cx="1298448" cy="96012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1252728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28416" y="1463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12464" y="1143000"/>
            <a:ext cx="1298448" cy="960120"/>
          </a:xfrm>
          <a:prstGeom prst="rect">
            <a:avLst/>
          </a:prstGeom>
          <a:solidFill>
            <a:srgbClr val="E67E2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12464" y="1252728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47488" y="1463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31536" y="1143000"/>
            <a:ext cx="1298448" cy="960120"/>
          </a:xfrm>
          <a:prstGeom prst="rect">
            <a:avLst/>
          </a:prstGeom>
          <a:solidFill>
            <a:srgbClr val="3498D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31536" y="1252728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463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50608" y="1143000"/>
            <a:ext cx="1298448" cy="960120"/>
          </a:xfrm>
          <a:prstGeom prst="rect">
            <a:avLst/>
          </a:prstGeom>
          <a:solidFill>
            <a:srgbClr val="2ECC7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50608" y="1252728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331720"/>
            <a:ext cx="41605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331720"/>
            <a:ext cx="416052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331720"/>
            <a:ext cx="4160520" cy="38404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2377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" y="2788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Linear baseline — fast, interpretable, well-suited for binary classification.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333756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∈ {0.01, 0.1, 1, 10, 100}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84048" y="370332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Solver: liblinear / lbfgs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84048" y="40690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max_iter: 1000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84048" y="443484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scoring: ROC-AUC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36592" y="2331720"/>
            <a:ext cx="41605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2331720"/>
            <a:ext cx="416052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Shape 29"/>
          <p:cNvSpPr/>
          <p:nvPr/>
        </p:nvSpPr>
        <p:spPr>
          <a:xfrm>
            <a:off x="4736592" y="2331720"/>
            <a:ext cx="416052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377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6320" y="2788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Ensemble method — handles non-linearity, mixed features, and missing data robustly.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33756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∈ {50, 100, 200}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46320" y="370332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∈ {None, 5, 10}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46320" y="40690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 ∈ {2, 5}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46320" y="443484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scoring: ROC-AUC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846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GridSearchCV with n_jobs=-1 (all CPU cores) distributes cross-validation in parallel — scalable to larger datasets.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and Evaluation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27432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097280"/>
            <a:ext cx="2743200" cy="347472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365760" y="1133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Random Forest</a:t>
            </a:r>
          </a:p>
        </p:txBody>
      </p:sp>
      <p:sp>
        <p:nvSpPr>
          <p:cNvPr id="10" name="Text 8"/>
          <p:cNvSpPr/>
          <p:nvPr/>
        </p:nvSpPr>
        <p:spPr>
          <a:xfrm>
            <a:off x="384048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~87%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1856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1856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" y="2203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22037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27832" y="109728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1097280"/>
            <a:ext cx="27432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Shape 16"/>
          <p:cNvSpPr/>
          <p:nvPr/>
        </p:nvSpPr>
        <p:spPr>
          <a:xfrm>
            <a:off x="3227832" y="1097280"/>
            <a:ext cx="2743200" cy="34747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3319272" y="1133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53712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~87%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1856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53712" y="1856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2203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53712" y="22037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0.87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81344" y="109728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81344" y="1097280"/>
            <a:ext cx="2743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Shape 26"/>
          <p:cNvSpPr/>
          <p:nvPr/>
        </p:nvSpPr>
        <p:spPr>
          <a:xfrm>
            <a:off x="6181344" y="1097280"/>
            <a:ext cx="2743200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6272784" y="1133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RF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 7)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91072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07224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~86%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91072" y="1856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07224" y="1856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91072" y="2203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07224" y="22037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74320" y="28346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Comparison</a:t>
            </a:r>
            <a:endParaRPr lang="en-US" sz="1400" dirty="0"/>
          </a:p>
        </p:txBody>
      </p:sp>
      <p:graphicFrame>
        <p:nvGraphicFramePr>
          <p:cNvPr id="37" name="Chart 0"/>
          <p:cNvGraphicFramePr/>
          <p:nvPr>
            <p:extLst>
              <p:ext uri="{D42A27DB-BD31-4B8C-83A1-F6EECF244321}">
                <p14:modId xmlns:p14="http://schemas.microsoft.com/office/powerpoint/2010/main" val="506325345"/>
              </p:ext>
            </p:extLst>
          </p:nvPr>
        </p:nvGraphicFramePr>
        <p:xfrm>
          <a:off x="274320" y="3200400"/>
          <a:ext cx="53035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Shape 35"/>
          <p:cNvSpPr/>
          <p:nvPr/>
        </p:nvSpPr>
        <p:spPr>
          <a:xfrm>
            <a:off x="5806440" y="2834640"/>
            <a:ext cx="30175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5806440" y="2834640"/>
            <a:ext cx="301752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0" name="Shape 37"/>
          <p:cNvSpPr/>
          <p:nvPr/>
        </p:nvSpPr>
        <p:spPr>
          <a:xfrm>
            <a:off x="5806440" y="2834640"/>
            <a:ext cx="301752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1" name="Text 38"/>
          <p:cNvSpPr/>
          <p:nvPr/>
        </p:nvSpPr>
        <p:spPr>
          <a:xfrm>
            <a:off x="5943600" y="28712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Result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94360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Georgia" pitchFamily="34" charset="0"/>
              </a:rPr>
              <a:t>Logistic Regression	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594360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731520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~87%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5943600" y="4041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7315200" y="4041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~0.95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5943600" y="43342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7315200" y="43342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~0.87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5943600" y="4626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</a:t>
            </a:r>
            <a:endParaRPr lang="en-US" sz="1150" dirty="0"/>
          </a:p>
        </p:txBody>
      </p:sp>
      <p:sp>
        <p:nvSpPr>
          <p:cNvPr id="50" name="Text 47"/>
          <p:cNvSpPr/>
          <p:nvPr/>
        </p:nvSpPr>
        <p:spPr>
          <a:xfrm>
            <a:off x="7315200" y="4626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~0.88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with Existing Work / Reference Paper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85953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143000"/>
            <a:ext cx="859536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188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Reference Paper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60020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"Heart Disease Prediction Using Machine Learning Techniques" — Detrano et al., UCI Repository baseline study.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331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165461"/>
              </p:ext>
            </p:extLst>
          </p:nvPr>
        </p:nvGraphicFramePr>
        <p:xfrm>
          <a:off x="274320" y="2715768"/>
          <a:ext cx="8595360" cy="2286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 / 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~77–80%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pipeline, manual preprocessing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Study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(linear kernel)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automated feature selection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98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Approach (LR)</a:t>
                      </a: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+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result —  Automated imputation + 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Approach (RF)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+ GridSearchCV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pipeline, parallel 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846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Logistic Regression pipeline outperforms all reference baselines by +4–10% accuracy and +0.06–0.11 AUC.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Challenges, Limitations &amp; Future Improvements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7432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097280"/>
            <a:ext cx="2743200" cy="685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3385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11704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18745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 in ca and thal columns without data leakage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6334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preprocessing was applied inside pipelines (not before split)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392424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hyperparameter grids without overfitting on small dataset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4151376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One-Hot encoded feature names for importance 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09728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097280"/>
            <a:ext cx="27432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Shape 15"/>
          <p:cNvSpPr/>
          <p:nvPr/>
        </p:nvSpPr>
        <p:spPr>
          <a:xfrm>
            <a:off x="3246120" y="1097280"/>
            <a:ext cx="2743200" cy="685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13385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40480" y="11704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55848" y="18745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 (303 records) — prone to high variance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26334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a single institution (Cleveland) — may not generalize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55848" y="3392424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features (ca, thal) have significant missing rates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4151376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simplification loses severity gradient (original: 0–4 scale)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09728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097280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1097280"/>
            <a:ext cx="27432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113385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12280" y="11704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27648" y="18745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deep learning (MLP / TabNet) for higher accuracy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27648" y="26334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SHAP values for deeper model explainability for clinicians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27648" y="3392424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REST API / web app for real-time risk scoring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27648" y="4151376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larger, multi-center datasets (e.g., Framingham Heart Study)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" y="804672"/>
            <a:ext cx="7772400" cy="36576"/>
          </a:xfrm>
          <a:prstGeom prst="rect">
            <a:avLst/>
          </a:prstGeom>
          <a:solidFill>
            <a:srgbClr val="02809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9601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7840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9875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an end-to-end ML pipeline for heart disease risk prediction on the UCI dataset.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73736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174650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best performance: ~87% accuracy and ROC-AUC ~0.93 using GridSearchCV.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47802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496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50545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 identified chest pain type (cp), thalassemia (thal), and max heart rate as key predictors.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23697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25526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26440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pipelines with parallel GridSearchCV ensure clean, leakage-free, and scalable preprocessing.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399592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401421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4023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can assist clinicians in early identification of high-risk patients for targeted intervention.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4663440"/>
            <a:ext cx="8366760" cy="347472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0001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📽️  Live Demo: Run predict_risk(patient_data) on test records to show real-time heart disease risk scores  |  Thank You!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1095</Words>
  <Application>Microsoft Office PowerPoint</Application>
  <PresentationFormat>On-screen Show (16:9)</PresentationFormat>
  <Paragraphs>213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Risk Prediction</dc:title>
  <dc:subject>PptxGenJS Presentation</dc:subject>
  <dc:creator>PptxGenJS</dc:creator>
  <cp:lastModifiedBy>ayush dudwe</cp:lastModifiedBy>
  <cp:revision>4</cp:revision>
  <dcterms:created xsi:type="dcterms:W3CDTF">2026-04-20T09:47:43Z</dcterms:created>
  <dcterms:modified xsi:type="dcterms:W3CDTF">2026-04-20T10:34:09Z</dcterms:modified>
</cp:coreProperties>
</file>